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743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EEEEE"/>
                </a:solidFill>
                <a:latin typeface="Calibri"/>
              </a:defRPr>
            </a:pPr>
            <a:r>
              <a:t>1. ГЕОМЕТРИЧЕСКАЯ ОПТИКА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115568"/>
            <a:ext cx="9418320" cy="381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EEEEE"/>
                </a:solidFill>
                <a:latin typeface="Calibri"/>
              </a:defRPr>
            </a:pPr>
            <a:r>
              <a:t>Лекция 5: как линзы собирают луч в пятно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57575"/>
                </a:solidFill>
                <a:latin typeface="Calibri"/>
              </a:defRPr>
            </a:pPr>
            <a:r>
              <a:t>Плотность мощности, NA, DOF и M²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EEEEE"/>
                </a:solidFill>
                <a:latin typeface="Calibri"/>
              </a:defRPr>
            </a:pPr>
            <a:r>
              <a:t>Оптика как главный усилитель лазерного станка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743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EEEEE"/>
                </a:solidFill>
                <a:latin typeface="Calibri"/>
              </a:defRPr>
            </a:pPr>
            <a:r>
              <a:t>2. ПЛАН ЛЕКЦИИ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115568"/>
            <a:ext cx="9418320" cy="381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417320"/>
            <a:ext cx="9418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EEEEE"/>
                </a:solidFill>
                <a:latin typeface="Calibri"/>
              </a:defRPr>
            </a:pPr>
            <a:r>
              <a:t>1. Плотность мощности I = P/S — расчёты</a:t>
            </a:r>
          </a:p>
          <a:p>
            <a:pPr>
              <a:spcAft>
                <a:spcPts val="1200"/>
              </a:spcAft>
              <a:defRPr sz="1800">
                <a:solidFill>
                  <a:srgbClr val="EEEEEE"/>
                </a:solidFill>
                <a:latin typeface="Calibri"/>
              </a:defRPr>
            </a:pPr>
            <a:r>
              <a:t>2. Закон Снеллиуса и работа линзы</a:t>
            </a:r>
          </a:p>
          <a:p>
            <a:pPr>
              <a:spcAft>
                <a:spcPts val="1200"/>
              </a:spcAft>
              <a:defRPr sz="1800">
                <a:solidFill>
                  <a:srgbClr val="EEEEEE"/>
                </a:solidFill>
                <a:latin typeface="Cambria Math"/>
              </a:defRPr>
            </a:pPr>
            <a:r>
              <a:t>3. Формула №1: d ~ λ/NA</a:t>
            </a:r>
          </a:p>
          <a:p>
            <a:pPr>
              <a:spcAft>
                <a:spcPts val="1200"/>
              </a:spcAft>
              <a:defRPr sz="1800">
                <a:solidFill>
                  <a:srgbClr val="EEEEEE"/>
                </a:solidFill>
                <a:latin typeface="Cambria Math"/>
              </a:defRPr>
            </a:pPr>
            <a:r>
              <a:t>4. Формула №2: DOF ~ λ/NA²</a:t>
            </a:r>
          </a:p>
          <a:p>
            <a:pPr>
              <a:spcAft>
                <a:spcPts val="1200"/>
              </a:spcAft>
              <a:defRPr sz="1800">
                <a:solidFill>
                  <a:srgbClr val="EEEEEE"/>
                </a:solidFill>
                <a:latin typeface="Calibri"/>
              </a:defRPr>
            </a:pPr>
            <a:r>
              <a:t>5. Формула №3: M² и итоги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743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EEEEE"/>
                </a:solidFill>
                <a:latin typeface="Calibri"/>
              </a:defRPr>
            </a:pPr>
            <a:r>
              <a:t>3. ЗАЧЕМ НАМ ОПТИКА?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115568"/>
            <a:ext cx="9418320" cy="3810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25880"/>
            <a:ext cx="49377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EEEEE"/>
                </a:solidFill>
                <a:latin typeface="Calibri"/>
              </a:defRPr>
            </a:pPr>
            <a:r>
              <a:t>I = P / S — плотность мощности</a:t>
            </a:r>
          </a:p>
          <a:p>
            <a:pPr>
              <a:spcAft>
                <a:spcPts val="600"/>
              </a:spcAft>
              <a:defRPr sz="1400">
                <a:solidFill>
                  <a:srgbClr val="EEEEEE"/>
                </a:solidFill>
                <a:latin typeface="Calibri"/>
              </a:defRPr>
            </a:pPr>
            <a:r>
              <a:t>d = 1 мм -&gt; I ~ 25 кВт/см²</a:t>
            </a:r>
          </a:p>
          <a:p>
            <a:pPr>
              <a:spcAft>
                <a:spcPts val="600"/>
              </a:spcAft>
              <a:defRPr sz="1400">
                <a:solidFill>
                  <a:srgbClr val="EEEEEE"/>
                </a:solidFill>
                <a:latin typeface="Calibri"/>
              </a:defRPr>
            </a:pPr>
            <a:r>
              <a:t>d = 50 мкм -&gt; I ~ 10 МВт/см²</a:t>
            </a:r>
          </a:p>
          <a:p>
            <a:pPr>
              <a:spcAft>
                <a:spcPts val="600"/>
              </a:spcAft>
              <a:defRPr sz="1400">
                <a:solidFill>
                  <a:srgbClr val="EEEEEE"/>
                </a:solidFill>
                <a:latin typeface="Calibri"/>
              </a:defRPr>
            </a:pPr>
            <a:r>
              <a:t>x400 при той же мощности 200 Вт</a:t>
            </a:r>
          </a:p>
          <a:p>
            <a:pPr>
              <a:spcAft>
                <a:spcPts val="600"/>
              </a:spcAft>
              <a:defRPr sz="1400">
                <a:solidFill>
                  <a:srgbClr val="EEEEEE"/>
                </a:solidFill>
                <a:latin typeface="Calibri"/>
              </a:defRPr>
            </a:pPr>
            <a:r>
              <a:t>Линза сжимает энергию в пространстве</a:t>
            </a:r>
          </a:p>
        </p:txBody>
      </p:sp>
      <p:pic>
        <p:nvPicPr>
          <p:cNvPr id="5" name="Picture 4" descr="dia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25880"/>
            <a:ext cx="5394960" cy="34806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743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EEEEE"/>
                </a:solidFill>
                <a:latin typeface="Calibri"/>
              </a:defRPr>
            </a:pPr>
            <a:r>
              <a:t>4. ЗАКОН СНЕЛЛИУСА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115568"/>
            <a:ext cx="9418320" cy="3810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25880"/>
            <a:ext cx="49377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EEEEE"/>
                </a:solidFill>
                <a:latin typeface="Calibri"/>
              </a:defRPr>
            </a:pPr>
            <a:r>
              <a:t>n1 sin(θ¹) = n2 sin(θ²)</a:t>
            </a:r>
          </a:p>
          <a:p>
            <a:pPr>
              <a:spcAft>
                <a:spcPts val="600"/>
              </a:spcAft>
              <a:defRPr sz="1400">
                <a:solidFill>
                  <a:srgbClr val="EEEEEE"/>
                </a:solidFill>
                <a:latin typeface="Calibri"/>
              </a:defRPr>
            </a:pPr>
            <a:r>
              <a:t>n = c / v — показатель преломления</a:t>
            </a:r>
          </a:p>
          <a:p>
            <a:pPr>
              <a:spcAft>
                <a:spcPts val="600"/>
              </a:spcAft>
              <a:defRPr sz="1400">
                <a:solidFill>
                  <a:srgbClr val="EEEEEE"/>
                </a:solidFill>
                <a:latin typeface="Calibri"/>
              </a:defRPr>
            </a:pPr>
            <a:r>
              <a:t>Края линзы преломляют сильнее</a:t>
            </a:r>
          </a:p>
          <a:p>
            <a:pPr>
              <a:spcAft>
                <a:spcPts val="600"/>
              </a:spcAft>
              <a:defRPr sz="1400">
                <a:solidFill>
                  <a:srgbClr val="EEEEEE"/>
                </a:solidFill>
                <a:latin typeface="Calibri"/>
              </a:defRPr>
            </a:pPr>
            <a:r>
              <a:t>Лучи сходятся в фокус</a:t>
            </a:r>
          </a:p>
        </p:txBody>
      </p:sp>
      <p:pic>
        <p:nvPicPr>
          <p:cNvPr id="5" name="Picture 4" descr="dia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25880"/>
            <a:ext cx="5394960" cy="348061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743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EEEEE"/>
                </a:solidFill>
                <a:latin typeface="Calibri"/>
              </a:defRPr>
            </a:pPr>
            <a:r>
              <a:t>5. РАЗМЕР ПЯТНА (ФОРМУЛА №1)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115568"/>
            <a:ext cx="9418320" cy="3810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25880"/>
            <a:ext cx="49377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EEEEE"/>
                </a:solidFill>
                <a:latin typeface="Cambria Math"/>
              </a:defRPr>
            </a:pPr>
            <a:r>
              <a:t>d ~ λ / NA</a:t>
            </a:r>
          </a:p>
          <a:p>
            <a:pPr>
              <a:spcAft>
                <a:spcPts val="600"/>
              </a:spcAft>
              <a:defRPr sz="1300">
                <a:solidFill>
                  <a:srgbClr val="EEEEEE"/>
                </a:solidFill>
                <a:latin typeface="Calibri"/>
              </a:defRPr>
            </a:pPr>
            <a:r>
              <a:t>NA = n sin(theta)</a:t>
            </a:r>
          </a:p>
          <a:p>
            <a:pPr>
              <a:spcAft>
                <a:spcPts val="600"/>
              </a:spcAft>
              <a:defRPr sz="1300">
                <a:solidFill>
                  <a:srgbClr val="EEEEEE"/>
                </a:solidFill>
                <a:latin typeface="Calibri"/>
              </a:defRPr>
            </a:pPr>
            <a:r>
              <a:t>NA=0,1 -&gt; d~10,7 мкм</a:t>
            </a:r>
          </a:p>
          <a:p>
            <a:pPr>
              <a:spcAft>
                <a:spcPts val="600"/>
              </a:spcAft>
              <a:defRPr sz="1300">
                <a:solidFill>
                  <a:srgbClr val="EEEEEE"/>
                </a:solidFill>
                <a:latin typeface="Calibri"/>
              </a:defRPr>
            </a:pPr>
            <a:r>
              <a:t>NA=0,4 -&gt; d~2,7 мкм</a:t>
            </a:r>
          </a:p>
          <a:p>
            <a:pPr>
              <a:spcAft>
                <a:spcPts val="600"/>
              </a:spcAft>
              <a:defRPr sz="1300">
                <a:solidFill>
                  <a:srgbClr val="EEEEEE"/>
                </a:solidFill>
                <a:latin typeface="Calibri"/>
              </a:defRPr>
            </a:pPr>
            <a:r>
              <a:t>Идеал; реальность — M²</a:t>
            </a:r>
          </a:p>
        </p:txBody>
      </p:sp>
      <p:pic>
        <p:nvPicPr>
          <p:cNvPr id="5" name="Picture 4" descr="diag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25880"/>
            <a:ext cx="5394960" cy="348061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743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EEEEE"/>
                </a:solidFill>
                <a:latin typeface="Calibri"/>
              </a:defRPr>
            </a:pPr>
            <a:r>
              <a:t>6. ГЛУБИНА РЕЗКОСТИ (ФОРМУЛА №2)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115568"/>
            <a:ext cx="9418320" cy="3810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234440"/>
          <a:ext cx="1065276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697480"/>
                <a:gridCol w="2697480"/>
                <a:gridCol w="2697480"/>
              </a:tblGrid>
              <a:tr h="868680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EEEEEE"/>
                          </a:solidFill>
                          <a:latin typeface="Calibri"/>
                        </a:defRPr>
                      </a:pPr>
                      <a:r>
                        <a:t>Параметр</a:t>
                      </a:r>
                    </a:p>
                  </a:txBody>
                  <a:tcPr>
                    <a:solidFill>
                      <a:srgbClr val="0096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EEEEEE"/>
                          </a:solidFill>
                          <a:latin typeface="Calibri"/>
                        </a:defRPr>
                      </a:pPr>
                      <a:r>
                        <a:t>A: промышл.</a:t>
                      </a:r>
                    </a:p>
                  </a:txBody>
                  <a:tcPr>
                    <a:solidFill>
                      <a:srgbClr val="0096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EEEEEE"/>
                          </a:solidFill>
                          <a:latin typeface="Calibri"/>
                        </a:defRPr>
                      </a:pPr>
                      <a:r>
                        <a:t>B: лаб.</a:t>
                      </a:r>
                    </a:p>
                  </a:txBody>
                  <a:tcPr>
                    <a:solidFill>
                      <a:srgbClr val="0096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EEEEEE"/>
                          </a:solidFill>
                          <a:latin typeface="Calibri"/>
                        </a:defRPr>
                      </a:pPr>
                      <a:r>
                        <a:t>C: экстр.</a:t>
                      </a:r>
                    </a:p>
                  </a:txBody>
                  <a:tcPr>
                    <a:solidFill>
                      <a:srgbClr val="00968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EEEEE"/>
                          </a:solidFill>
                          <a:latin typeface="Calibri"/>
                        </a:defRPr>
                      </a:pPr>
                      <a:r>
                        <a:t>Числ. апертура (NA)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EEEEE"/>
                          </a:solidFill>
                          <a:latin typeface="Calibri"/>
                        </a:defRPr>
                      </a:pPr>
                      <a:r>
                        <a:t>0,1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EEEEE"/>
                          </a:solidFill>
                          <a:latin typeface="Calibri"/>
                        </a:defRPr>
                      </a:pPr>
                      <a:r>
                        <a:t>0,4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EEEEE"/>
                          </a:solidFill>
                          <a:latin typeface="Calibri"/>
                        </a:defRPr>
                      </a:pPr>
                      <a:r>
                        <a:t>0,5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EEEEE"/>
                          </a:solidFill>
                          <a:latin typeface="Calibri"/>
                        </a:defRPr>
                      </a:pPr>
                      <a:r>
                        <a:t>Пятно d, мкм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EEEEE"/>
                          </a:solidFill>
                          <a:latin typeface="Calibri"/>
                        </a:defRPr>
                      </a:pPr>
                      <a:r>
                        <a:t>~10,7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EEEEE"/>
                          </a:solidFill>
                          <a:latin typeface="Calibri"/>
                        </a:defRPr>
                      </a:pPr>
                      <a:r>
                        <a:t>~2,7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EEEEE"/>
                          </a:solidFill>
                          <a:latin typeface="Calibri"/>
                        </a:defRPr>
                      </a:pPr>
                      <a:r>
                        <a:t>~2,1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EEEEE"/>
                          </a:solidFill>
                          <a:latin typeface="Calibri"/>
                        </a:defRPr>
                      </a:pPr>
                      <a:r>
                        <a:t>DOF, мкм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EEEEE"/>
                          </a:solidFill>
                          <a:latin typeface="Calibri"/>
                        </a:defRPr>
                      </a:pPr>
                      <a:r>
                        <a:t>~107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EEEEE"/>
                          </a:solidFill>
                          <a:latin typeface="Calibri"/>
                        </a:defRPr>
                      </a:pPr>
                      <a:r>
                        <a:t>~6,7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EEEEE"/>
                          </a:solidFill>
                          <a:latin typeface="Calibri"/>
                        </a:defRPr>
                      </a:pPr>
                      <a:r>
                        <a:t>~4,3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EEEEE"/>
                          </a:solidFill>
                          <a:latin typeface="Calibri"/>
                        </a:defRPr>
                      </a:pPr>
                      <a:r>
                        <a:t>СЛП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EEEEE"/>
                          </a:solidFill>
                          <a:latin typeface="Calibri"/>
                        </a:defRPr>
                      </a:pPr>
                      <a:r>
                        <a:t>Да, стандарт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EEEEE"/>
                          </a:solidFill>
                          <a:latin typeface="Calibri"/>
                        </a:defRPr>
                      </a:pPr>
                      <a:r>
                        <a:t>Только лаб.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EEEEE"/>
                          </a:solidFill>
                          <a:latin typeface="Calibri"/>
                        </a:defRPr>
                      </a:pPr>
                      <a:r>
                        <a:t>Нереализуемо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EEEEEE"/>
                          </a:solidFill>
                          <a:latin typeface="Calibri"/>
                        </a:defRPr>
                      </a:pPr>
                      <a:r>
                        <a:t>Почему?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EEEEE"/>
                          </a:solidFill>
                          <a:latin typeface="Calibri"/>
                        </a:defRPr>
                      </a:pPr>
                      <a:r>
                        <a:t>DOF &gt; рельефа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EEEEE"/>
                          </a:solidFill>
                          <a:latin typeface="Calibri"/>
                        </a:defRPr>
                      </a:pPr>
                      <a:r>
                        <a:t>DOF &lt; рельефа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EEEEE"/>
                          </a:solidFill>
                          <a:latin typeface="Calibri"/>
                        </a:defRPr>
                      </a:pPr>
                      <a:r>
                        <a:t>DOF &lt;&lt; рельефа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743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EEEEE"/>
                </a:solidFill>
                <a:latin typeface="Calibri"/>
              </a:defRPr>
            </a:pPr>
            <a:r>
              <a:t>7. M² И ИТОГИ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115568"/>
            <a:ext cx="9418320" cy="3810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25880"/>
            <a:ext cx="49377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EEEEE"/>
                </a:solidFill>
                <a:latin typeface="Calibri"/>
              </a:defRPr>
            </a:pPr>
            <a:r>
              <a:t>d_реал = M² * d_идеал</a:t>
            </a:r>
          </a:p>
          <a:p>
            <a:pPr>
              <a:spcAft>
                <a:spcPts val="600"/>
              </a:spcAft>
              <a:defRPr sz="1300">
                <a:solidFill>
                  <a:srgbClr val="EEEEEE"/>
                </a:solidFill>
                <a:latin typeface="Calibri"/>
              </a:defRPr>
            </a:pPr>
            <a:r>
              <a:t>Волокно M²~1,3; диод M²~20</a:t>
            </a:r>
          </a:p>
          <a:p>
            <a:pPr>
              <a:spcAft>
                <a:spcPts val="600"/>
              </a:spcAft>
              <a:defRPr sz="1300">
                <a:solidFill>
                  <a:srgbClr val="EEEEEE"/>
                </a:solidFill>
                <a:latin typeface="Calibri"/>
              </a:defRPr>
            </a:pPr>
            <a:r>
              <a:t>I ~ 1/d² — качество пучка критично</a:t>
            </a:r>
          </a:p>
          <a:p>
            <a:pPr>
              <a:spcAft>
                <a:spcPts val="600"/>
              </a:spcAft>
              <a:defRPr sz="1300">
                <a:solidFill>
                  <a:srgbClr val="EEEEEE"/>
                </a:solidFill>
                <a:latin typeface="Calibri"/>
              </a:defRPr>
            </a:pPr>
            <a:r>
              <a:t>NA~0,1 — компромисс для СЛП</a:t>
            </a:r>
          </a:p>
        </p:txBody>
      </p:sp>
      <p:pic>
        <p:nvPicPr>
          <p:cNvPr id="5" name="Picture 4" descr="diag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25880"/>
            <a:ext cx="5394960" cy="348061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
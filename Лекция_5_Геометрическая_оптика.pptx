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EEEEE"/>
                </a:solidFill>
                <a:latin typeface="Calibri"/>
              </a:defRPr>
            </a:pPr>
            <a:r>
              <a:t>1. ГЕОМЕТРИЧЕСКАЯ ОПТИКА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EEEE"/>
                </a:solidFill>
                <a:latin typeface="Calibri"/>
              </a:defRPr>
            </a:pPr>
            <a:r>
              <a:t>Лекция 5: как линзы собирают луч в пятно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757575"/>
                </a:solidFill>
                <a:latin typeface="Calibri"/>
              </a:defRPr>
            </a:pPr>
            <a:r>
              <a:t>Плотность мощности, NA, DOF и M²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EEEEE"/>
                </a:solidFill>
                <a:latin typeface="Calibri"/>
              </a:defRPr>
            </a:pPr>
            <a:r>
              <a:t>Оптика как главный усилитель лазерного станка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EEEEE"/>
                </a:solidFill>
                <a:latin typeface="Calibri"/>
              </a:defRPr>
            </a:pPr>
            <a:r>
              <a:t>2. ПЛАН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17320"/>
            <a:ext cx="9418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1. Плотность мощности I = P/S — расчёты</a:t>
            </a:r>
          </a:p>
          <a:p>
            <a:pPr>
              <a:spcAft>
                <a:spcPts val="12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2. Закон Снеллиуса и работа линзы</a:t>
            </a:r>
          </a:p>
          <a:p>
            <a:pPr>
              <a:spcAft>
                <a:spcPts val="1200"/>
              </a:spcAft>
              <a:defRPr sz="1800">
                <a:solidFill>
                  <a:srgbClr val="EEEEEE"/>
                </a:solidFill>
                <a:latin typeface="Cambria Math"/>
              </a:defRPr>
            </a:pPr>
            <a:r>
              <a:t>3. Формула №1: d ~ λ/NA</a:t>
            </a:r>
          </a:p>
          <a:p>
            <a:pPr>
              <a:spcAft>
                <a:spcPts val="1200"/>
              </a:spcAft>
              <a:defRPr sz="1800">
                <a:solidFill>
                  <a:srgbClr val="EEEEEE"/>
                </a:solidFill>
                <a:latin typeface="Cambria Math"/>
              </a:defRPr>
            </a:pPr>
            <a:r>
              <a:t>4. Формула №2: DOF ~ λ/NA²</a:t>
            </a:r>
          </a:p>
          <a:p>
            <a:pPr>
              <a:spcAft>
                <a:spcPts val="1200"/>
              </a:spcAft>
              <a:defRPr sz="1800">
                <a:solidFill>
                  <a:srgbClr val="EEEEEE"/>
                </a:solidFill>
                <a:latin typeface="Calibri"/>
              </a:defRPr>
            </a:pPr>
            <a:r>
              <a:t>5. Формула №3: M² и итоги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EEEEE"/>
                </a:solidFill>
                <a:latin typeface="Calibri"/>
              </a:defRPr>
            </a:pPr>
            <a:r>
              <a:t>3. ЗАЧЕМ НАМ ОПТИКА?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I = P / S — плотность мощности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d = 1 мм -&gt; I ~ 25 кВт/см²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d = 50 мкм -&gt; I ~ 10 МВт/см²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x400 при той же мощности 200 Вт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Линза сжимает энергию в пространстве</a:t>
            </a:r>
          </a:p>
        </p:txBody>
      </p:sp>
      <p:pic>
        <p:nvPicPr>
          <p:cNvPr id="5" name="Picture 4" descr="dia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4806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EEEEEE"/>
                </a:solidFill>
                <a:latin typeface="Calibri"/>
              </a:defRPr>
            </a:pPr>
            <a:r>
              <a:t>4. ЗАКОН СНЕЛЛИУСА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mbria Math"/>
              </a:defRPr>
            </a:pPr>
            <a:r>
              <a:t>n1 sin(θ¹) = n2 sin(θ²)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n = c / v — показатель преломления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Края линзы преломляют сильнее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Calibri"/>
              </a:defRPr>
            </a:pPr>
            <a:r>
              <a:t>Лучи сходятся в фокус</a:t>
            </a:r>
          </a:p>
        </p:txBody>
      </p:sp>
      <p:pic>
        <p:nvPicPr>
          <p:cNvPr id="5" name="Picture 4" descr="dia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4806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EEEEE"/>
                </a:solidFill>
                <a:latin typeface="Calibri"/>
              </a:defRPr>
            </a:pPr>
            <a:r>
              <a:t>5. РАЗМЕР ПЯТНА (ФОРМУЛА №1)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mbria Math"/>
              </a:defRPr>
            </a:pPr>
            <a:r>
              <a:t>d ~ λ / NA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mbria Math"/>
              </a:defRPr>
            </a:pPr>
            <a:r>
              <a:t>NA = n sin(θ)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NA=0,1 -&gt; d~10,7 мкм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NA=0,4 -&gt; d~2,7 мкм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Идеал; реальность — M²</a:t>
            </a:r>
          </a:p>
        </p:txBody>
      </p:sp>
      <p:pic>
        <p:nvPicPr>
          <p:cNvPr id="5" name="Picture 4" descr="dia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4806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EEEEE"/>
                </a:solidFill>
                <a:latin typeface="Calibri"/>
              </a:defRPr>
            </a:pPr>
            <a:r>
              <a:t>6. ГЛУБИНА РЕЗКОСТИ (ФОРМУЛА №2)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34440"/>
          <a:ext cx="1065276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697480"/>
                <a:gridCol w="2697480"/>
                <a:gridCol w="2697480"/>
              </a:tblGrid>
              <a:tr h="86868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A: промышл.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B: лаб.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C: экстр.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Числ. апертура (NA)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0,1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0,4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0,5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Пятно d, мкм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~10,7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~2,7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~2,1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DOF, мкм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~107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~6,7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~4,3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СЛП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Да, стандарт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Только лаб.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Нереализуемо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Почему?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 &gt; рельефа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 &lt; рельефа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DOF &lt;&lt; рельефа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EEEEE"/>
                </a:solidFill>
                <a:latin typeface="Calibri"/>
              </a:defRPr>
            </a:pPr>
            <a:r>
              <a:t>7. M² И ИТОГИ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2588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d_реал = M² * d_идеал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Волокно M²~1,3; диод M²~20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I ~ 1/d² — качество пучка критично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Calibri"/>
              </a:defRPr>
            </a:pPr>
            <a:r>
              <a:t>NA~0,1 — компромисс для СЛП</a:t>
            </a:r>
          </a:p>
        </p:txBody>
      </p:sp>
      <p:pic>
        <p:nvPicPr>
          <p:cNvPr id="5" name="Picture 4" descr="dia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4806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
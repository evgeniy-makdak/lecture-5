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EE"/>
                </a:solidFill>
                <a:latin typeface="Calibri"/>
              </a:defRPr>
            </a:pPr>
            <a:r>
              <a:t>1. ФОРМИРОВАНИЕ ЛАЗЕРНОГО ПЯТНА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EEEEE"/>
                </a:solidFill>
                <a:latin typeface="Calibri"/>
              </a:defRPr>
            </a:pPr>
            <a:r>
              <a:t>Лекция 5: геометрическая и физическая оптика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5176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57575"/>
                </a:solidFill>
                <a:latin typeface="Calibri"/>
              </a:defRPr>
            </a:pPr>
            <a:r>
              <a:t>Пятно, дифракция, NA, DOF, тракт СЛП и M²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749039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  <a:r>
              <a:t>Базу геометрической оптики уже знаем — сегодня предел пятна и практика СЛП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EEEEE"/>
                </a:solidFill>
                <a:latin typeface="Calibri"/>
              </a:defRPr>
            </a:pPr>
            <a:r>
              <a:t>2. ПЛАН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25880"/>
            <a:ext cx="9418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1. I = P/S</a:t>
            </a:r>
          </a:p>
          <a:p>
            <a:pPr>
              <a:spcAft>
                <a:spcPts val="12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2. Лучи и волны</a:t>
            </a:r>
          </a:p>
          <a:p>
            <a:pPr>
              <a:spcAft>
                <a:spcPts val="1200"/>
              </a:spcAft>
              <a:defRPr sz="1600">
                <a:solidFill>
                  <a:srgbClr val="EEEEEE"/>
                </a:solidFill>
                <a:latin typeface="Cambria Math"/>
              </a:defRPr>
            </a:pPr>
            <a:r>
              <a:t>3. d ~ λ/NA</a:t>
            </a:r>
          </a:p>
          <a:p>
            <a:pPr>
              <a:spcAft>
                <a:spcPts val="1200"/>
              </a:spcAft>
              <a:defRPr sz="1600">
                <a:solidFill>
                  <a:srgbClr val="EEEEEE"/>
                </a:solidFill>
                <a:latin typeface="Cambria Math"/>
              </a:defRPr>
            </a:pPr>
            <a:r>
              <a:t>4. Тракт СЛП: F-θ, гальво, защита</a:t>
            </a:r>
          </a:p>
          <a:p>
            <a:pPr>
              <a:spcAft>
                <a:spcPts val="1200"/>
              </a:spcAft>
              <a:defRPr sz="1600">
                <a:solidFill>
                  <a:srgbClr val="EEEEEE"/>
                </a:solidFill>
                <a:latin typeface="Cambria Math"/>
              </a:defRPr>
            </a:pPr>
            <a:r>
              <a:t>5. DOF ~ λ/NA²</a:t>
            </a:r>
          </a:p>
          <a:p>
            <a:pPr>
              <a:spcAft>
                <a:spcPts val="12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6. Фокус: z-offset</a:t>
            </a:r>
          </a:p>
          <a:p>
            <a:pPr>
              <a:spcAft>
                <a:spcPts val="1200"/>
              </a:spcAft>
              <a:defRPr sz="1600">
                <a:solidFill>
                  <a:srgbClr val="EEEEEE"/>
                </a:solidFill>
                <a:latin typeface="Calibri"/>
              </a:defRPr>
            </a:pPr>
            <a:r>
              <a:t>7. M² и итоги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EEEEE"/>
                </a:solidFill>
                <a:latin typeface="Calibri"/>
              </a:defRPr>
            </a:pPr>
            <a:r>
              <a:t>3. ЗАЧЕМ НАМ ОПТИКА?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25880"/>
            <a:ext cx="49377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Calibri"/>
              </a:defRPr>
            </a:pPr>
            <a:r>
              <a:t>I = P / S — плотность мощности</a:t>
            </a:r>
          </a:p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Calibri"/>
              </a:defRPr>
            </a:pPr>
            <a:r>
              <a:t>d = 1 мм -&gt; I ~ 25 кВт/см²</a:t>
            </a:r>
          </a:p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Calibri"/>
              </a:defRPr>
            </a:pPr>
            <a:r>
              <a:t>d = 50 мкм -&gt; I ~ 10 МВт/см²</a:t>
            </a:r>
          </a:p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Calibri"/>
              </a:defRPr>
            </a:pPr>
            <a:r>
              <a:t>x400 при той же мощности 200 Вт</a:t>
            </a:r>
          </a:p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Calibri"/>
              </a:defRPr>
            </a:pPr>
            <a:r>
              <a:t>Оптика сжимает энергию в пространстве</a:t>
            </a:r>
          </a:p>
        </p:txBody>
      </p:sp>
      <p:pic>
        <p:nvPicPr>
          <p:cNvPr id="5" name="Picture 4" descr="dia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25880"/>
            <a:ext cx="5394960" cy="348061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EEEEE"/>
                </a:solidFill>
                <a:latin typeface="Calibri"/>
              </a:defRPr>
            </a:pPr>
            <a:r>
              <a:t>4. ЛУЧИ И ВОЛНЫ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258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Геометрия: лучи, зеркала, линзы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У фокуса — дифракция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Интерференция волн в апертуре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Лазер: когерентность → предсказуемый фокус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Точки в фокусе нет — есть пятно d</a:t>
            </a:r>
          </a:p>
        </p:txBody>
      </p:sp>
      <p:pic>
        <p:nvPicPr>
          <p:cNvPr id="5" name="Picture 4" descr="dia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2588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EEEEE"/>
                </a:solidFill>
                <a:latin typeface="Calibri"/>
              </a:defRPr>
            </a:pPr>
            <a:r>
              <a:t>5. РАЗМЕР ПЯТНА (ФОРМУЛА №1)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25880"/>
            <a:ext cx="49377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mbria Math"/>
              </a:defRPr>
            </a:pPr>
            <a:r>
              <a:t>d ~ λ / NA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mbria Math"/>
              </a:defRPr>
            </a:pPr>
            <a:r>
              <a:t>NA = n sin(θ)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NA=0,1 -&gt; d~10,7 мкм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NA=0,4 -&gt; d~2,7 мкм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Рабочее пятно станка часто больше предела</a:t>
            </a:r>
          </a:p>
        </p:txBody>
      </p:sp>
      <p:pic>
        <p:nvPicPr>
          <p:cNvPr id="5" name="Picture 4" descr="dia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25880"/>
            <a:ext cx="5394960" cy="34806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EE"/>
                </a:solidFill>
                <a:latin typeface="Calibri"/>
              </a:defRPr>
            </a:pPr>
            <a:r>
              <a:t>6. ОПТИЧЕСКИЙ ТРАКТ СЛП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258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Calibri"/>
              </a:defRPr>
            </a:pPr>
            <a:r>
              <a:t>Волокно → коллиматор</a:t>
            </a:r>
          </a:p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Calibri"/>
              </a:defRPr>
            </a:pPr>
            <a:r>
              <a:t>Гальво</a:t>
            </a:r>
          </a:p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Cambria Math"/>
              </a:defRPr>
            </a:pPr>
            <a:r>
              <a:t>F-θ</a:t>
            </a:r>
          </a:p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Calibri"/>
              </a:defRPr>
            </a:pPr>
            <a:r>
              <a:t>Защитное стекло</a:t>
            </a:r>
          </a:p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Calibri"/>
              </a:defRPr>
            </a:pPr>
            <a:r>
              <a:t>Загрязнение → сдвиг фокуса</a:t>
            </a:r>
          </a:p>
        </p:txBody>
      </p:sp>
      <p:pic>
        <p:nvPicPr>
          <p:cNvPr id="5" name="Picture 4" descr="diag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2588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EEEEE"/>
                </a:solidFill>
                <a:latin typeface="Calibri"/>
              </a:defRPr>
            </a:pPr>
            <a:r>
              <a:t>7. ГЛУБИНА РЕЗКОСТИ (ФОРМУЛА №2)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234440"/>
          <a:ext cx="106527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697480"/>
                <a:gridCol w="2697480"/>
                <a:gridCol w="2697480"/>
              </a:tblGrid>
              <a:tr h="86868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Параметр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A: промышл.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B: лаб.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C: экстр.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Числ. апертура (NA)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0,1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0,4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0,5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Пятно d, мкм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~10,7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~2,7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~2,1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DOF, мкм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~107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~6,7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~4,3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СЛП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Да, стандарт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Только лаб.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Нереализуемо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Почему?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DOF &gt; рельефа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DOF &lt; рельефа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DOF &lt;&lt; рельефа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EEEEE"/>
                </a:solidFill>
                <a:latin typeface="Calibri"/>
              </a:defRPr>
            </a:pPr>
            <a:r>
              <a:t>8. ФОКУС НА ПРАКТИКЕ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258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Фокус: ниже / в слое / выше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z-offset → d, I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DOF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Загрязнение → термолинза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Чистота оптики = параметр процесса</a:t>
            </a:r>
          </a:p>
        </p:txBody>
      </p:sp>
      <p:pic>
        <p:nvPicPr>
          <p:cNvPr id="5" name="Picture 4" descr="diag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2588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EEEEE"/>
                </a:solidFill>
                <a:latin typeface="Calibri"/>
              </a:defRPr>
            </a:pPr>
            <a:r>
              <a:t>9. M² И ИТОГИ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25880"/>
            <a:ext cx="49377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d_реал = M² * d_идеал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Волокно M²~1,3; диод M²~20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I ~ 1/d² — качество пучка критично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NA~0,1 — компромисс для СЛП</a:t>
            </a:r>
          </a:p>
        </p:txBody>
      </p:sp>
      <p:pic>
        <p:nvPicPr>
          <p:cNvPr id="5" name="Picture 4" descr="diag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25880"/>
            <a:ext cx="5394960" cy="348061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